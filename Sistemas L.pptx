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4630400" cy="8229600"/>
  <p:notesSz cx="8229600" cy="14630400"/>
  <p:embeddedFontLst>
    <p:embeddedFont>
      <p:font typeface="Host Grotesk Medium" panose="020B0604020202020204" charset="0"/>
      <p:regular r:id="rId15"/>
    </p:embeddedFont>
    <p:embeddedFont>
      <p:font typeface="Inter" panose="020B0604020202020204" charset="0"/>
      <p:regular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Roboto" panose="020B0604020202020204" charset="0"/>
      <p:regular r:id="rId21"/>
    </p:embeddedFont>
  </p:embeddedFontLst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1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4.fntdata"/><Relationship Id="rId3" Type="http://schemas.openxmlformats.org/officeDocument/2006/relationships/slide" Target="slides/slide1.xml"/><Relationship Id="rId21" Type="http://schemas.openxmlformats.org/officeDocument/2006/relationships/font" Target="fonts/font7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5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15393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38761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24699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90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7526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7903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6116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02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7506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0419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2125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802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2383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png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780824"/>
            <a:ext cx="13042821" cy="14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Sistemas L: Modelado Procedural y Matrices en Unity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89" y="4722971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exploración técnica del modelado procedural aplicado a la generación de vegetación mediante gramáticas formales y manipulación directa del pipeline de renderizado en Unity.</a:t>
            </a:r>
            <a:endParaRPr lang="en-US" sz="175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127253"/>
            <a:ext cx="3389670" cy="4267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3790" y="6098142"/>
            <a:ext cx="13042821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Pablo </a:t>
            </a:r>
            <a:r>
              <a:rPr lang="en-US" sz="1750" dirty="0" smtClean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Lencina</a:t>
            </a:r>
            <a:endParaRPr lang="en-US" sz="175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635" y="76177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1382"/>
            <a:ext cx="66865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¿Qué son los Sistemas L?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2819876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Sistemas L son gramáticas formales desarrolladas por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Aristid Lindenmayer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1968 para modelar el crecimiento de plantas y organismos biológicos.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112657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 técnica matemática utiliza reglas de producción iterativas para generar estructuras complejas a partir de simples axiomas iniciales, simulando procesos de desarrollo biológico.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405438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computación, los Sistemas L se han convertido en una herramienta fundamental para el modelado procedural de vegetación y estructuras orgánicas.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9638943" y="4475559"/>
            <a:ext cx="420516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8883"/>
            <a:ext cx="8152805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La Gramática del Crecimiento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793790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224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6" name="Text 3"/>
          <p:cNvSpPr/>
          <p:nvPr/>
        </p:nvSpPr>
        <p:spPr>
          <a:xfrm>
            <a:off x="1028224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Axioma Inicial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1028224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cadena de símbolos que representa la estructura base o estado inicial del sistema.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51396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1" name="Text 7"/>
          <p:cNvSpPr/>
          <p:nvPr/>
        </p:nvSpPr>
        <p:spPr>
          <a:xfrm>
            <a:off x="5451396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Reglas de Producción</a:t>
            </a:r>
            <a:endParaRPr lang="en-US" sz="2300" dirty="0"/>
          </a:p>
        </p:txBody>
      </p:sp>
      <p:sp>
        <p:nvSpPr>
          <p:cNvPr id="12" name="Text 8"/>
          <p:cNvSpPr/>
          <p:nvPr/>
        </p:nvSpPr>
        <p:spPr>
          <a:xfrm>
            <a:off x="5451396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Transformaciones que definen cómo cada símbolo se reemplaza en cada iteración del proceso.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874568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6" name="Text 11"/>
          <p:cNvSpPr/>
          <p:nvPr/>
        </p:nvSpPr>
        <p:spPr>
          <a:xfrm>
            <a:off x="9874568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Iteraciones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9874568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número de veces que se aplican las reglas, determinando la complejidad de la estructura final.</a:t>
            </a:r>
            <a:endParaRPr lang="en-US" sz="1750" dirty="0"/>
          </a:p>
        </p:txBody>
      </p:sp>
      <p:sp>
        <p:nvSpPr>
          <p:cNvPr id="18" name="Text 13"/>
          <p:cNvSpPr/>
          <p:nvPr/>
        </p:nvSpPr>
        <p:spPr>
          <a:xfrm>
            <a:off x="793790" y="5964912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proceso iterativo permite generar estructuras fractales y ramificaciones que simulan el crecimiento natural de plantas y árboles.</a:t>
            </a:r>
            <a:endParaRPr lang="en-US" sz="175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367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10345"/>
            <a:ext cx="773965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 Símbolos a Geometría 3D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21581"/>
            <a:ext cx="323397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Concepto de 'Tortuga'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720465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interpretación gráfica utiliza un cursor móvil (tortuga) que ejecuta comandos basados en símbolos: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650343"/>
            <a:ext cx="624470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'F' = Avanzar y dibujar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'[' = Guardar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']' = Restaurar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'+'/'-' = Rotar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12158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3D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720465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un entorno tridimensional, la tortuga mantiene estado de posición, rotación y escala, permitiendo generar geometría compleja con ramificaciones en múltiples ejes.</a:t>
            </a:r>
            <a:endParaRPr lang="en-US" sz="175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56987"/>
            <a:ext cx="12236053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Técnica: Matrices Manuales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185487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comprender profundamente el pipeline de renderizado, se implementaron manualmente las tres matrices fundamentales del sistema de coordenadas: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4270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6" name="Text 4"/>
          <p:cNvSpPr/>
          <p:nvPr/>
        </p:nvSpPr>
        <p:spPr>
          <a:xfrm>
            <a:off x="2721888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1051084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Matrix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051084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 coordenadas locales del objeto al espacio mundial, aplicando traslación, rotación y escala.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47442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1" name="Text 9"/>
          <p:cNvSpPr/>
          <p:nvPr/>
        </p:nvSpPr>
        <p:spPr>
          <a:xfrm>
            <a:off x="7145060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5474256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View Matrix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5474256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Convierte del espacio mundial al espacio de vista, posicionando la escena desde la perspectiva de la cámara.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9640133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0613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6" name="Text 14"/>
          <p:cNvSpPr/>
          <p:nvPr/>
        </p:nvSpPr>
        <p:spPr>
          <a:xfrm>
            <a:off x="11568232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9897427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Projection Matrix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9897427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 el espacio de vista al espacio de clip, aplicando perspectiva o proyección ortográfica.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793790" y="6245781"/>
            <a:ext cx="13042821" cy="1326713"/>
          </a:xfrm>
          <a:prstGeom prst="roundRect">
            <a:avLst>
              <a:gd name="adj" fmla="val 7181"/>
            </a:avLst>
          </a:prstGeom>
          <a:solidFill>
            <a:srgbClr val="B6D6FC"/>
          </a:solidFill>
          <a:ln/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6589871"/>
            <a:ext cx="283488" cy="22681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530906" y="6529268"/>
            <a:ext cx="1207889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evitó usar las funciones automáticas de Unity para comprender el pipeline completo de transformación de vértices.</a:t>
            </a:r>
            <a:endParaRPr lang="en-US" sz="1750" dirty="0"/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48351"/>
            <a:ext cx="8557617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Optimización: Backface Culling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35958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958471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Backface Culling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 una optimización que descarta caras no visibles de los objetos para mejorar el rendimiento del renderizado.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251252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geometría procedural, esto requiere calcular correctamente las normales de superficie en tiempo real.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359587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958471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las normales de cada triángulo generado, asegurando que el culling funcione correctamente y manteniendo la eficiencia del renderizado.</a:t>
            </a:r>
            <a:endParaRPr lang="en-US" sz="175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69494"/>
            <a:ext cx="10317956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Geometría de Doble Cara: Cross-Plane</a:t>
            </a:r>
            <a:endParaRPr lang="en-US" sz="4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867382"/>
            <a:ext cx="4347567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604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Problema Inicial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1020604" y="4509611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geometría generada solo tenía caras visibles desde un lado, causando áreas oscuras o invisibles.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357" y="2867382"/>
            <a:ext cx="4347567" cy="907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8171" y="4001453"/>
            <a:ext cx="3893939" cy="74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Cross-Plane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5368171" y="4881682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generaron triángulos adicionales con normales invertidas, creando superficies visibles desde ambos lados.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924" y="2867382"/>
            <a:ext cx="4347567" cy="9072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738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</a:t>
            </a:r>
            <a:endParaRPr lang="en-US" sz="2300" dirty="0"/>
          </a:p>
        </p:txBody>
      </p:sp>
      <p:sp>
        <p:nvSpPr>
          <p:cNvPr id="11" name="Text 6"/>
          <p:cNvSpPr/>
          <p:nvPr/>
        </p:nvSpPr>
        <p:spPr>
          <a:xfrm>
            <a:off x="9715738" y="4509611"/>
            <a:ext cx="389393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Geometría completa con iluminación correcta desde cualquier ángulo de visión.</a:t>
            </a:r>
            <a:endParaRPr lang="en-US" sz="1750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1294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31839"/>
            <a:ext cx="772953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Manejo de Bounds y Cámara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643074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4241959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grandes extensiones procedurales, Unity puede recortar objetos que exceden los límites de la cámara, causando desaparición de geometría.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599521" y="3643074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7599521" y="4241959"/>
            <a:ext cx="62447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dinámicamente los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Bounds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cada objeto generado, ajustando los parámetros de la cámara para evitar el recorte prematuro de geometría en grandes estructuras.</a:t>
            </a:r>
            <a:endParaRPr lang="en-US" sz="175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35825"/>
            <a:ext cx="84010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Resultados: Bosque Procedural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200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384578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Árboles Generados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3790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Vegetación procedural en un radio de 300 unidades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300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26681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Radio de Extensión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235893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Unidades de cobertura del bosque generado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100%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268783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Variación de Color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677995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Colores aleatorios aplicados a cada árbol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93790" y="5667970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sistema generó un bosque completo con variaciones de color aleatorias, demostrando la capacidad de los Sistemas L para crear diversidad visual en tiempo real.</a:t>
            </a:r>
            <a:endParaRPr lang="en-US" sz="1750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811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4419" y="814113"/>
            <a:ext cx="12365950" cy="1488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0"/>
              </a:lnSpc>
              <a:buNone/>
            </a:pPr>
            <a:r>
              <a:rPr lang="en-US" sz="93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Bosque con Sistemas L</a:t>
            </a:r>
            <a:endParaRPr lang="en-US" sz="9350" dirty="0"/>
          </a:p>
        </p:txBody>
      </p:sp>
      <p:sp>
        <p:nvSpPr>
          <p:cNvPr id="3" name="Text 1"/>
          <p:cNvSpPr/>
          <p:nvPr/>
        </p:nvSpPr>
        <p:spPr>
          <a:xfrm>
            <a:off x="924419" y="2474809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proyecto culmina con una demostración visual del render final, mostrando la generación procedural de vegetación utilizando gramáticas formales y manipulación directa del pipeline de renderizado en Unity.</a:t>
            </a:r>
            <a:endParaRPr lang="en-US" sz="1750" dirty="0"/>
          </a:p>
        </p:txBody>
      </p:sp>
      <p:pic>
        <p:nvPicPr>
          <p:cNvPr id="5" name="Bosque con Sistemas 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248758" y="3500594"/>
            <a:ext cx="7429500" cy="4343400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4378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30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91966"/>
            <a:ext cx="7825502" cy="9782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7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150" b="0" i="0" u="none" strike="noStrike" kern="1200" cap="none" spc="0" normalizeH="0" baseline="0" noProof="0" dirty="0">
                <a:ln>
                  <a:noFill/>
                </a:ln>
                <a:solidFill>
                  <a:srgbClr val="2E3C4E"/>
                </a:solidFill>
                <a:effectLst/>
                <a:uLnTx/>
                <a:uFillTx/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¿Preguntas?</a:t>
            </a:r>
            <a:endParaRPr kumimoji="0" lang="en-US" sz="6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01410" y="4426744"/>
            <a:ext cx="6513790" cy="807958"/>
          </a:xfrm>
          <a:prstGeom prst="roundRect">
            <a:avLst>
              <a:gd name="adj" fmla="val 11791"/>
            </a:avLst>
          </a:prstGeom>
          <a:solidFill>
            <a:srgbClr val="D9EDF2"/>
          </a:solidFill>
          <a:ln/>
        </p:spPr>
      </p:sp>
      <p:sp>
        <p:nvSpPr>
          <p:cNvPr id="6" name="Text 4"/>
          <p:cNvSpPr/>
          <p:nvPr/>
        </p:nvSpPr>
        <p:spPr>
          <a:xfrm>
            <a:off x="1028224" y="465355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84653"/>
                </a:solidFill>
                <a:effectLst/>
                <a:uLnTx/>
                <a:uFillTx/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Pablo Lencina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93790" y="5497473"/>
            <a:ext cx="13042821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50" b="0" i="0" u="none" strike="noStrike" kern="1200" cap="none" spc="0" normalizeH="0" baseline="0" noProof="0" dirty="0">
                <a:ln>
                  <a:noFill/>
                </a:ln>
                <a:solidFill>
                  <a:srgbClr val="384653"/>
                </a:solidFill>
                <a:effectLst/>
                <a:uLnTx/>
                <a:uFillTx/>
                <a:latin typeface="Roboto" pitchFamily="34" charset="0"/>
                <a:ea typeface="Roboto" pitchFamily="34" charset="-122"/>
                <a:cs typeface="Roboto" pitchFamily="34" charset="-120"/>
              </a:rPr>
              <a:t>Computación Gráfica · UNS · 2026</a:t>
            </a:r>
            <a:endParaRPr kumimoji="0" lang="en-US" sz="1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4378" y="7638237"/>
            <a:ext cx="1816765" cy="5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506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662</Words>
  <Application>Microsoft Office PowerPoint</Application>
  <PresentationFormat>Personalizado</PresentationFormat>
  <Paragraphs>81</Paragraphs>
  <Slides>11</Slides>
  <Notes>11</Notes>
  <HiddenSlides>0</HiddenSlides>
  <MMClips>1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11</vt:i4>
      </vt:variant>
    </vt:vector>
  </HeadingPairs>
  <TitlesOfParts>
    <vt:vector size="19" baseType="lpstr">
      <vt:lpstr>Host Grotesk Medium</vt:lpstr>
      <vt:lpstr>Arial</vt:lpstr>
      <vt:lpstr>Inter</vt:lpstr>
      <vt:lpstr>Petrona Bold</vt:lpstr>
      <vt:lpstr>Calibri</vt:lpstr>
      <vt:lpstr>Roboto</vt:lpstr>
      <vt:lpstr>Office Theme</vt:lpstr>
      <vt:lpstr>1_Office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lastModifiedBy>Usuario</cp:lastModifiedBy>
  <cp:revision>6</cp:revision>
  <dcterms:created xsi:type="dcterms:W3CDTF">2026-04-16T13:20:52Z</dcterms:created>
  <dcterms:modified xsi:type="dcterms:W3CDTF">2026-04-17T03:33:05Z</dcterms:modified>
</cp:coreProperties>
</file>