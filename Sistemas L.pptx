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Inter" panose="020B0604020202020204" charset="0"/>
      <p:regular r:id="rId17"/>
    </p:embeddedFont>
    <p:embeddedFont>
      <p:font typeface="Roboto" panose="020B0604020202020204" charset="0"/>
      <p:regular r:id="rId18"/>
    </p:embeddedFont>
  </p:embeddedFontLst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5" d="100"/>
          <a:sy n="65" d="100"/>
        </p:scale>
        <p:origin x="198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15393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7" Type="http://schemas.openxmlformats.org/officeDocument/2006/relationships/image" Target="../media/image12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780824"/>
            <a:ext cx="13042821" cy="14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Sistemas L: Modelado Procedural y Matrices en Unity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89" y="4722971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exploración técnica del modelado procedural aplicado a la generación de vegetación mediante gramáticas formales y manipulación directa del pipeline de renderizado en Unity.</a:t>
            </a:r>
            <a:endParaRPr lang="en-US" sz="175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127253"/>
            <a:ext cx="3389670" cy="4267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3790" y="6098142"/>
            <a:ext cx="13042821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Pablo </a:t>
            </a:r>
            <a:r>
              <a:rPr lang="en-US" sz="1750" dirty="0" smtClean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Lencina</a:t>
            </a:r>
            <a:endParaRPr lang="en-US" sz="175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13635" y="76177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31382"/>
            <a:ext cx="6686550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¿Qué son los Sistemas L?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2819876"/>
            <a:ext cx="828413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Sistemas L son gramáticas formales desarrolladas por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Aristid Lindenmayer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 1968 para modelar el crecimiento de plantas y organismos biológicos.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4112657"/>
            <a:ext cx="828413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 técnica matemática utiliza reglas de producción iterativas para generar estructuras complejas a partir de simples axiomas iniciales, simulando procesos de desarrollo biológico.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5405438"/>
            <a:ext cx="828413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computación, los Sistemas L se han convertido en una herramienta fundamental para el modelado procedural de vegetación y estructuras orgánicas.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9638943" y="4475559"/>
            <a:ext cx="420516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  <p:pic>
        <p:nvPicPr>
          <p:cNvPr id="9" name="Generación_Procedural_de_Árboles_en_Unity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9077921" y="3162745"/>
            <a:ext cx="5312941" cy="298852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38883"/>
            <a:ext cx="8152805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La Gramática del Crecimiento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793790" y="2736771"/>
            <a:ext cx="4196358" cy="2972991"/>
          </a:xfrm>
          <a:prstGeom prst="roundRect">
            <a:avLst>
              <a:gd name="adj" fmla="val 3204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8224" y="297120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sp>
        <p:nvSpPr>
          <p:cNvPr id="6" name="Text 3"/>
          <p:cNvSpPr/>
          <p:nvPr/>
        </p:nvSpPr>
        <p:spPr>
          <a:xfrm>
            <a:off x="1028224" y="387846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Axioma Inicial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1028224" y="4386620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cadena de símbolos que representa la estructura base o estado inicial del sistema.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5216962" y="2736771"/>
            <a:ext cx="4196358" cy="2972991"/>
          </a:xfrm>
          <a:prstGeom prst="roundRect">
            <a:avLst>
              <a:gd name="adj" fmla="val 3204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51396" y="297120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sp>
        <p:nvSpPr>
          <p:cNvPr id="11" name="Text 7"/>
          <p:cNvSpPr/>
          <p:nvPr/>
        </p:nvSpPr>
        <p:spPr>
          <a:xfrm>
            <a:off x="5451396" y="387846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Reglas de Producción</a:t>
            </a:r>
            <a:endParaRPr lang="en-US" sz="2300" dirty="0"/>
          </a:p>
        </p:txBody>
      </p:sp>
      <p:sp>
        <p:nvSpPr>
          <p:cNvPr id="12" name="Text 8"/>
          <p:cNvSpPr/>
          <p:nvPr/>
        </p:nvSpPr>
        <p:spPr>
          <a:xfrm>
            <a:off x="5451396" y="4386620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Transformaciones que definen cómo cada símbolo se reemplaza en cada iteración del proceso.</a:t>
            </a:r>
            <a:endParaRPr lang="en-US" sz="1750" dirty="0"/>
          </a:p>
        </p:txBody>
      </p:sp>
      <p:sp>
        <p:nvSpPr>
          <p:cNvPr id="13" name="Shape 9"/>
          <p:cNvSpPr/>
          <p:nvPr/>
        </p:nvSpPr>
        <p:spPr>
          <a:xfrm>
            <a:off x="9640133" y="2736771"/>
            <a:ext cx="4196358" cy="2972991"/>
          </a:xfrm>
          <a:prstGeom prst="roundRect">
            <a:avLst>
              <a:gd name="adj" fmla="val 3204"/>
            </a:avLst>
          </a:prstGeom>
          <a:solidFill>
            <a:srgbClr val="CCEEFF"/>
          </a:solidFill>
          <a:ln w="7620">
            <a:solidFill>
              <a:srgbClr val="B2D4E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874568" y="297120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07EBD"/>
          </a:solidFill>
          <a:ln/>
        </p:spPr>
      </p:sp>
      <p:sp>
        <p:nvSpPr>
          <p:cNvPr id="16" name="Text 11"/>
          <p:cNvSpPr/>
          <p:nvPr/>
        </p:nvSpPr>
        <p:spPr>
          <a:xfrm>
            <a:off x="9874568" y="387846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Iteraciones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9874568" y="4386620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número de veces que se aplican las reglas, determinando la complejidad de la estructura final.</a:t>
            </a:r>
            <a:endParaRPr lang="en-US" sz="1750" dirty="0"/>
          </a:p>
        </p:txBody>
      </p:sp>
      <p:sp>
        <p:nvSpPr>
          <p:cNvPr id="18" name="Text 13"/>
          <p:cNvSpPr/>
          <p:nvPr/>
        </p:nvSpPr>
        <p:spPr>
          <a:xfrm>
            <a:off x="793790" y="5964912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proceso iterativo permite generar estructuras fractales y ramificaciones que simulan el crecimiento natural de plantas y árboles.</a:t>
            </a:r>
            <a:endParaRPr lang="en-US" sz="175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367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10345"/>
            <a:ext cx="7739658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De Símbolos a Geometría 3D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121581"/>
            <a:ext cx="323397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 Concepto de 'Tortuga'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3720465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interpretación gráfica utiliza un cursor móvil (tortuga) que ejecuta comandos basados en símbolos: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650343"/>
            <a:ext cx="6244709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'F' = Avanzar y dibujar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'[' = Guardar posición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']' = Restaurar posición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'+'/'-' = Rotar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599521" y="3121581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Implementación 3D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599521" y="3720465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un entorno tridimensional, la tortuga mantiene estado de posición, rotación y escala, permitiendo generar geometría compleja con ramificaciones en múltiples ejes.</a:t>
            </a:r>
            <a:endParaRPr lang="en-US" sz="175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  <p:pic>
        <p:nvPicPr>
          <p:cNvPr id="9" name="Video_L_System_Symbols_Explained_Visually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860155" y="5035987"/>
            <a:ext cx="5432809" cy="30559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56987"/>
            <a:ext cx="12236053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Implementación Técnica: Matrices Manuales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1854875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comprender profundamente el pipeline de renderizado, se implementaron manualmente las tres matrices fundamentales del sistema de coordenadas: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2835831"/>
            <a:ext cx="4196358" cy="3154799"/>
          </a:xfrm>
          <a:prstGeom prst="roundRect">
            <a:avLst>
              <a:gd name="adj" fmla="val 3020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B2D4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4270" y="286631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CCEEFF"/>
          </a:solidFill>
          <a:ln/>
        </p:spPr>
      </p:sp>
      <p:sp>
        <p:nvSpPr>
          <p:cNvPr id="6" name="Text 4"/>
          <p:cNvSpPr/>
          <p:nvPr/>
        </p:nvSpPr>
        <p:spPr>
          <a:xfrm>
            <a:off x="2721888" y="299001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2650" dirty="0"/>
          </a:p>
        </p:txBody>
      </p:sp>
      <p:sp>
        <p:nvSpPr>
          <p:cNvPr id="7" name="Text 5"/>
          <p:cNvSpPr/>
          <p:nvPr/>
        </p:nvSpPr>
        <p:spPr>
          <a:xfrm>
            <a:off x="1051084" y="377356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Model Matrix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051084" y="428172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 coordenadas locales del objeto al espacio mundial, aplicando traslación, rotación y escala.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5216962" y="2835831"/>
            <a:ext cx="4196358" cy="3154799"/>
          </a:xfrm>
          <a:prstGeom prst="roundRect">
            <a:avLst>
              <a:gd name="adj" fmla="val 3020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B2D4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47442" y="286631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CCEEFF"/>
          </a:solidFill>
          <a:ln/>
        </p:spPr>
      </p:sp>
      <p:sp>
        <p:nvSpPr>
          <p:cNvPr id="11" name="Text 9"/>
          <p:cNvSpPr/>
          <p:nvPr/>
        </p:nvSpPr>
        <p:spPr>
          <a:xfrm>
            <a:off x="7145060" y="299001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2650" dirty="0"/>
          </a:p>
        </p:txBody>
      </p:sp>
      <p:sp>
        <p:nvSpPr>
          <p:cNvPr id="12" name="Text 10"/>
          <p:cNvSpPr/>
          <p:nvPr/>
        </p:nvSpPr>
        <p:spPr>
          <a:xfrm>
            <a:off x="5474256" y="377356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View Matrix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5474256" y="428172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Convierte del espacio mundial al espacio de vista, posicionando la escena desde la perspectiva de la cámara.</a:t>
            </a:r>
            <a:endParaRPr lang="en-US" sz="1750" dirty="0"/>
          </a:p>
        </p:txBody>
      </p:sp>
      <p:sp>
        <p:nvSpPr>
          <p:cNvPr id="14" name="Shape 12"/>
          <p:cNvSpPr/>
          <p:nvPr/>
        </p:nvSpPr>
        <p:spPr>
          <a:xfrm>
            <a:off x="9640133" y="2835831"/>
            <a:ext cx="4196358" cy="3154799"/>
          </a:xfrm>
          <a:prstGeom prst="roundRect">
            <a:avLst>
              <a:gd name="adj" fmla="val 3020"/>
            </a:avLst>
          </a:prstGeom>
          <a:solidFill>
            <a:srgbClr val="FFFFFF">
              <a:alpha val="95000"/>
            </a:srgbClr>
          </a:solidFill>
          <a:ln w="30480">
            <a:solidFill>
              <a:srgbClr val="B2D4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70613" y="286631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CCEEFF"/>
          </a:solidFill>
          <a:ln/>
        </p:spPr>
      </p:sp>
      <p:sp>
        <p:nvSpPr>
          <p:cNvPr id="16" name="Text 14"/>
          <p:cNvSpPr/>
          <p:nvPr/>
        </p:nvSpPr>
        <p:spPr>
          <a:xfrm>
            <a:off x="11568232" y="299001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2650" dirty="0"/>
          </a:p>
        </p:txBody>
      </p:sp>
      <p:sp>
        <p:nvSpPr>
          <p:cNvPr id="17" name="Text 15"/>
          <p:cNvSpPr/>
          <p:nvPr/>
        </p:nvSpPr>
        <p:spPr>
          <a:xfrm>
            <a:off x="9897427" y="377356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Projection Matrix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9897427" y="428172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 el espacio de vista al espacio de clip, aplicando perspectiva o proyección ortográfica.</a:t>
            </a:r>
            <a:endParaRPr lang="en-US" sz="1750" dirty="0"/>
          </a:p>
        </p:txBody>
      </p:sp>
      <p:sp>
        <p:nvSpPr>
          <p:cNvPr id="19" name="Shape 17"/>
          <p:cNvSpPr/>
          <p:nvPr/>
        </p:nvSpPr>
        <p:spPr>
          <a:xfrm>
            <a:off x="793790" y="6245781"/>
            <a:ext cx="13042821" cy="1326713"/>
          </a:xfrm>
          <a:prstGeom prst="roundRect">
            <a:avLst>
              <a:gd name="adj" fmla="val 7181"/>
            </a:avLst>
          </a:prstGeom>
          <a:solidFill>
            <a:srgbClr val="B6D6FC"/>
          </a:solidFill>
          <a:ln/>
        </p:spPr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04" y="6589871"/>
            <a:ext cx="283488" cy="22681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530906" y="6529268"/>
            <a:ext cx="1207889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evitó usar las funciones automáticas de Unity para comprender el pipeline completo de transformación de vértices.</a:t>
            </a:r>
            <a:endParaRPr lang="en-US" sz="1750" dirty="0"/>
          </a:p>
        </p:txBody>
      </p:sp>
      <p:pic>
        <p:nvPicPr>
          <p:cNvPr id="22" name="Imagen 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48351"/>
            <a:ext cx="11284329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850"/>
              </a:lnSpc>
            </a:pPr>
            <a:r>
              <a:rPr lang="en-US" sz="4650" b="1" dirty="0" err="1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Optimización</a:t>
            </a: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: </a:t>
            </a:r>
            <a:r>
              <a:rPr lang="en-US" sz="4650" b="1" dirty="0" err="1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Backface</a:t>
            </a: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 Culling  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359587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 </a:t>
            </a:r>
            <a:r>
              <a:rPr lang="en-US" sz="2300" b="1" dirty="0" err="1" smtClean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Desafío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3958471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Backface Culling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es una optimización que descarta caras no visibles de los objetos para mejorar el rendimiento del renderizado.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5251252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geometría procedural, esto requiere calcular correctamente las normales de superficie en tiempo real.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599521" y="3359587"/>
            <a:ext cx="3276838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Solución Implementada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599521" y="3977988"/>
            <a:ext cx="6244709" cy="1608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calcularon las normales de cada </a:t>
            </a:r>
            <a:r>
              <a:rPr lang="en-US" sz="175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triángulo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 err="1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generado</a:t>
            </a: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 err="1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</a:t>
            </a: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 err="1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tiempo</a:t>
            </a:r>
            <a:r>
              <a:rPr lang="en-US" sz="175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real, 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asegurando que el culling funcione correctamente y manteniendo la eficiencia del renderizado.</a:t>
            </a:r>
            <a:endParaRPr lang="en-US" sz="175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69494"/>
            <a:ext cx="10317956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Geometría de Doble Cara: Cross-Plane</a:t>
            </a:r>
            <a:endParaRPr lang="en-US" sz="46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867382"/>
            <a:ext cx="4347567" cy="9072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20604" y="4001453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Problema Inicial</a:t>
            </a:r>
            <a:endParaRPr lang="en-US" sz="2300" dirty="0"/>
          </a:p>
        </p:txBody>
      </p:sp>
      <p:sp>
        <p:nvSpPr>
          <p:cNvPr id="5" name="Text 2"/>
          <p:cNvSpPr/>
          <p:nvPr/>
        </p:nvSpPr>
        <p:spPr>
          <a:xfrm>
            <a:off x="1020604" y="4509611"/>
            <a:ext cx="389393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geometría generada solo tenía caras visibles desde un lado, causando áreas oscuras o invisibles.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1357" y="2867382"/>
            <a:ext cx="4347567" cy="9072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68171" y="4001453"/>
            <a:ext cx="3893939" cy="74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Implementación Cross-Plane</a:t>
            </a:r>
            <a:endParaRPr lang="en-US" sz="2300" dirty="0"/>
          </a:p>
        </p:txBody>
      </p:sp>
      <p:sp>
        <p:nvSpPr>
          <p:cNvPr id="8" name="Text 4"/>
          <p:cNvSpPr/>
          <p:nvPr/>
        </p:nvSpPr>
        <p:spPr>
          <a:xfrm>
            <a:off x="5368171" y="4881682"/>
            <a:ext cx="389393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generaron triángulos adicionales con normales invertidas, creando superficies visibles desde ambos lados.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8924" y="2867382"/>
            <a:ext cx="4347567" cy="9072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715738" y="4001453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Resultado</a:t>
            </a:r>
            <a:endParaRPr lang="en-US" sz="2300" dirty="0"/>
          </a:p>
        </p:txBody>
      </p:sp>
      <p:sp>
        <p:nvSpPr>
          <p:cNvPr id="11" name="Text 6"/>
          <p:cNvSpPr/>
          <p:nvPr/>
        </p:nvSpPr>
        <p:spPr>
          <a:xfrm>
            <a:off x="9715738" y="4509611"/>
            <a:ext cx="389393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Geometría completa con iluminación correcta desde cualquier ángulo de visión.</a:t>
            </a:r>
            <a:endParaRPr lang="en-US" sz="1750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01294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31839"/>
            <a:ext cx="7729538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Manejo de Bounds y Cámara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643074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El Desafío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4241959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grandes extensiones procedurales, Unity puede recortar objetos que exceden los límites de la cámara, causando desaparición de geometría.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599521" y="3643074"/>
            <a:ext cx="3276838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Solución Implementada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7599521" y="4241959"/>
            <a:ext cx="624470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calcularon dinámicamente los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Bounds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cada objeto generado, ajustando los parámetros de la cámara para evitar el recorte prematuro de geometría en grandes estructuras.</a:t>
            </a:r>
            <a:endParaRPr lang="en-US" sz="1750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237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35825"/>
            <a:ext cx="8401050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Resultados: Bosque Procedural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3147060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200</a:t>
            </a:r>
            <a:endParaRPr lang="en-US" sz="5850" dirty="0"/>
          </a:p>
        </p:txBody>
      </p:sp>
      <p:sp>
        <p:nvSpPr>
          <p:cNvPr id="4" name="Text 2"/>
          <p:cNvSpPr/>
          <p:nvPr/>
        </p:nvSpPr>
        <p:spPr>
          <a:xfrm>
            <a:off x="1384578" y="417885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Árboles Generados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93790" y="468701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Vegetación procedural en un radio de 300 unidades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5235893" y="3147060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300</a:t>
            </a:r>
            <a:endParaRPr lang="en-US" sz="5850" dirty="0"/>
          </a:p>
        </p:txBody>
      </p:sp>
      <p:sp>
        <p:nvSpPr>
          <p:cNvPr id="7" name="Text 5"/>
          <p:cNvSpPr/>
          <p:nvPr/>
        </p:nvSpPr>
        <p:spPr>
          <a:xfrm>
            <a:off x="5826681" y="417885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Radio de Extensión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235893" y="468701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Unidades de cobertura del bosque generado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9677995" y="3147060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100%</a:t>
            </a:r>
            <a:endParaRPr lang="en-US" sz="5850" dirty="0"/>
          </a:p>
        </p:txBody>
      </p:sp>
      <p:sp>
        <p:nvSpPr>
          <p:cNvPr id="10" name="Text 8"/>
          <p:cNvSpPr/>
          <p:nvPr/>
        </p:nvSpPr>
        <p:spPr>
          <a:xfrm>
            <a:off x="10268783" y="417885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Variación de Color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9677995" y="4687014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Colores aleatorios aplicados a cada árbol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93790" y="5667970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sistema generó un bosque completo con variaciones de color aleatorias, demostrando la capacidad de los Sistemas L para crear diversidad visual en tiempo real.</a:t>
            </a:r>
            <a:endParaRPr lang="en-US" sz="1750" dirty="0"/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3635" y="7638811"/>
            <a:ext cx="1816765" cy="5913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4419" y="814113"/>
            <a:ext cx="12365950" cy="14885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00"/>
              </a:lnSpc>
              <a:buNone/>
            </a:pPr>
            <a:r>
              <a:rPr lang="en-US" sz="93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Bosque con Sistemas L</a:t>
            </a:r>
            <a:endParaRPr lang="en-US" sz="9350" dirty="0"/>
          </a:p>
        </p:txBody>
      </p:sp>
      <p:sp>
        <p:nvSpPr>
          <p:cNvPr id="3" name="Text 1"/>
          <p:cNvSpPr/>
          <p:nvPr/>
        </p:nvSpPr>
        <p:spPr>
          <a:xfrm>
            <a:off x="924419" y="2474809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proyecto culmina con una demostración visual del render final, mostrando la generación procedural de vegetación utilizando gramáticas formales y manipulación directa del pipeline de renderizado en Unity.</a:t>
            </a:r>
            <a:endParaRPr lang="en-US" sz="175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4378" y="7638237"/>
            <a:ext cx="1816765" cy="591363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419" y="3892332"/>
            <a:ext cx="8297375" cy="1652159"/>
          </a:xfrm>
          <a:prstGeom prst="rect">
            <a:avLst/>
          </a:prstGeom>
        </p:spPr>
      </p:pic>
      <p:pic>
        <p:nvPicPr>
          <p:cNvPr id="7" name="Bosque con Sistemas 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996393" y="3372791"/>
            <a:ext cx="7524750" cy="4343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70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653</Words>
  <Application>Microsoft Office PowerPoint</Application>
  <PresentationFormat>Personalizado</PresentationFormat>
  <Paragraphs>77</Paragraphs>
  <Slides>10</Slides>
  <Notes>10</Notes>
  <HiddenSlides>0</HiddenSlides>
  <MMClips>3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Calibri</vt:lpstr>
      <vt:lpstr>Petrona Bold</vt:lpstr>
      <vt:lpstr>Inter</vt:lpstr>
      <vt:lpstr>Arial</vt:lpstr>
      <vt:lpstr>Roboto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lastModifiedBy>Usuario</cp:lastModifiedBy>
  <cp:revision>16</cp:revision>
  <dcterms:created xsi:type="dcterms:W3CDTF">2026-04-16T13:20:52Z</dcterms:created>
  <dcterms:modified xsi:type="dcterms:W3CDTF">2026-04-28T20:35:25Z</dcterms:modified>
</cp:coreProperties>
</file>