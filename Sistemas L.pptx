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Roboto" panose="020B0604020202020204" charset="0"/>
      <p:regular r:id="rId18"/>
    </p:embeddedFont>
  </p:embeddedFontLst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9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1539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2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80824"/>
            <a:ext cx="130428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Sistemas L: Modelado Procedural y Matrices en Unity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89" y="472297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exploración técnica del modelado procedural aplicado a la generación de vegetación mediante gramáticas formales y manipulación directa del pipeline de renderizado en Unity.</a:t>
            </a:r>
            <a:endParaRPr lang="en-US" sz="175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27253"/>
            <a:ext cx="3389670" cy="4267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6098142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Pablo </a:t>
            </a:r>
            <a:r>
              <a:rPr lang="en-US" sz="1750" dirty="0" smtClean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Lencina</a:t>
            </a:r>
            <a:endParaRPr lang="en-US" sz="175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3635" y="7617737"/>
            <a:ext cx="1816765" cy="59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1382"/>
            <a:ext cx="668655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¿Qué son los Sistemas L?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819876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Sistemas L son gramáticas formales desarrolladas por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Aristid Lindenmayer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1968 para modelar el crecimiento de plantas y organismos biológicos.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12657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técnica matemática utiliza reglas de producción iterativas para generar estructuras complejas a partir de simples axiomas iniciales, simulando procesos de desarrollo biológico.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405438"/>
            <a:ext cx="828413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computación, los Sistemas L se han convertido en una herramienta fundamental para el modelado procedural de vegetación y estructuras orgánicas.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638943" y="4475559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3635" y="7638237"/>
            <a:ext cx="1816765" cy="591363"/>
          </a:xfrm>
          <a:prstGeom prst="rect">
            <a:avLst/>
          </a:prstGeom>
        </p:spPr>
      </p:pic>
      <p:pic>
        <p:nvPicPr>
          <p:cNvPr id="9" name="Generación_Procedural_de_Árboles_en_Unit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77921" y="3162745"/>
            <a:ext cx="5312941" cy="29885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8883"/>
            <a:ext cx="815280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 Gramática del Crecimiento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736771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971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387846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Axioma Inicial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28224" y="438662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cadena de símbolos que representa la estructura base o estado inicial del sistema.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736771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971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sp>
        <p:nvSpPr>
          <p:cNvPr id="11" name="Text 7"/>
          <p:cNvSpPr/>
          <p:nvPr/>
        </p:nvSpPr>
        <p:spPr>
          <a:xfrm>
            <a:off x="5451396" y="387846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Reglas de Producción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5451396" y="438662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Transformaciones que definen cómo cada símbolo se reemplaza en cada iteración del proceso.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736771"/>
            <a:ext cx="4196358" cy="2972991"/>
          </a:xfrm>
          <a:prstGeom prst="roundRect">
            <a:avLst>
              <a:gd name="adj" fmla="val 3204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97120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7EBD"/>
          </a:solidFill>
          <a:ln/>
        </p:spPr>
      </p:sp>
      <p:sp>
        <p:nvSpPr>
          <p:cNvPr id="16" name="Text 11"/>
          <p:cNvSpPr/>
          <p:nvPr/>
        </p:nvSpPr>
        <p:spPr>
          <a:xfrm>
            <a:off x="9874568" y="387846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Iteraciones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9874568" y="438662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número de veces que se aplican las reglas, determinando la complejidad de la estructura final.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596491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proceso iterativo permite generar estructuras fractales y ramificaciones que simulan el crecimiento natural de plantas y árboles.</a:t>
            </a:r>
            <a:endParaRPr lang="en-US" sz="1750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3675" y="7638237"/>
            <a:ext cx="1816765" cy="59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0345"/>
            <a:ext cx="773965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 Símbolos a Geometría 3D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121581"/>
            <a:ext cx="323397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 Concepto de 'Tortuga'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72046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interpretación gráfica utiliza un cursor móvil (tortuga) que ejecuta comandos basados en símbolos: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50343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'F' = Avanzar y dibujar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'[' = Guardar posición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']' = Restaurar posición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'+'/'-' = Rotar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2158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Implementación 3D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99521" y="372046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un entorno tridimensional, la tortuga mantiene estado de posición, rotación y escala, permitiendo generar geometría compleja con ramificaciones en múltiples ejes.</a:t>
            </a:r>
            <a:endParaRPr lang="en-US" sz="175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3635" y="7638237"/>
            <a:ext cx="1816765" cy="591363"/>
          </a:xfrm>
          <a:prstGeom prst="rect">
            <a:avLst/>
          </a:prstGeom>
        </p:spPr>
      </p:pic>
      <p:pic>
        <p:nvPicPr>
          <p:cNvPr id="9" name="Video_L_System_Symbols_Explained_Visually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860155" y="5035987"/>
            <a:ext cx="5432809" cy="3055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6987"/>
            <a:ext cx="1223605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Implementación Técnica: Matrices Manuales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85487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comprender profundamente el pipeline de renderizado, se implementaron manualmente las tres matrices fundamentales del sistema de coordenadas: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35831"/>
            <a:ext cx="4196358" cy="3154799"/>
          </a:xfrm>
          <a:prstGeom prst="roundRect">
            <a:avLst>
              <a:gd name="adj" fmla="val 30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4270" y="286631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CCEEFF"/>
          </a:solidFill>
          <a:ln/>
        </p:spPr>
      </p:sp>
      <p:sp>
        <p:nvSpPr>
          <p:cNvPr id="6" name="Text 4"/>
          <p:cNvSpPr/>
          <p:nvPr/>
        </p:nvSpPr>
        <p:spPr>
          <a:xfrm>
            <a:off x="2721888" y="299001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37735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Matrix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084" y="428172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 coordenadas locales del objeto al espacio mundial, aplicando traslación, rotación y escala.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835831"/>
            <a:ext cx="4196358" cy="3154799"/>
          </a:xfrm>
          <a:prstGeom prst="roundRect">
            <a:avLst>
              <a:gd name="adj" fmla="val 30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47442" y="286631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CCEEFF"/>
          </a:solidFill>
          <a:ln/>
        </p:spPr>
      </p:sp>
      <p:sp>
        <p:nvSpPr>
          <p:cNvPr id="11" name="Text 9"/>
          <p:cNvSpPr/>
          <p:nvPr/>
        </p:nvSpPr>
        <p:spPr>
          <a:xfrm>
            <a:off x="7145060" y="299001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474256" y="37735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View Matrix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474256" y="428172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Convierte del espacio mundial al espacio de vista, posicionando la escena desde la perspectiva de la cámara.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9640133" y="2835831"/>
            <a:ext cx="4196358" cy="3154799"/>
          </a:xfrm>
          <a:prstGeom prst="roundRect">
            <a:avLst>
              <a:gd name="adj" fmla="val 3020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B2D4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0613" y="2866311"/>
            <a:ext cx="4135398" cy="680442"/>
          </a:xfrm>
          <a:prstGeom prst="roundRect">
            <a:avLst>
              <a:gd name="adj" fmla="val 8626"/>
            </a:avLst>
          </a:prstGeom>
          <a:solidFill>
            <a:srgbClr val="CCEE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568232" y="299001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897427" y="37735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Projection Matrix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897427" y="4281726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 el espacio de vista al espacio de clip, aplicando perspectiva o proyección ortográfica.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6245781"/>
            <a:ext cx="13042821" cy="1326713"/>
          </a:xfrm>
          <a:prstGeom prst="roundRect">
            <a:avLst>
              <a:gd name="adj" fmla="val 7181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589871"/>
            <a:ext cx="283488" cy="22681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30906" y="652926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evitó usar las funciones automáticas de Unity para comprender el pipeline completo de transformación de vértices.</a:t>
            </a:r>
            <a:endParaRPr lang="en-US" sz="1750" dirty="0"/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3635" y="7638237"/>
            <a:ext cx="1816765" cy="59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8351"/>
            <a:ext cx="1128432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50"/>
              </a:lnSpc>
            </a:pPr>
            <a:r>
              <a:rPr lang="en-US" sz="4650" b="1" dirty="0" err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Optimización</a:t>
            </a: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: </a:t>
            </a:r>
            <a:r>
              <a:rPr lang="en-US" sz="4650" b="1" dirty="0" err="1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Backface</a:t>
            </a: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Culling  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35958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 </a:t>
            </a:r>
            <a:r>
              <a:rPr lang="en-US" sz="2300" b="1" dirty="0" err="1" smtClean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Desafío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95847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Backface Culling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 una optimización que descarta caras no visibles de los objetos para mejorar el rendimiento del renderizado.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5125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geometría procedural, esto requiere calcular correctamente las normales de superficie en tiempo real.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359587"/>
            <a:ext cx="32768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Solución Implementada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599521" y="3977988"/>
            <a:ext cx="6244709" cy="1608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calcularon las normales de cada </a:t>
            </a:r>
            <a:r>
              <a:rPr lang="en-US" sz="175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triángulo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generado,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asegurando que el culling funcione correctamente y manteniendo la eficiencia del renderizado.</a:t>
            </a:r>
            <a:endParaRPr lang="en-US" sz="175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635" y="7638237"/>
            <a:ext cx="1816765" cy="59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9494"/>
            <a:ext cx="10317956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Geometría de Doble Cara: Cross-Plane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67382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40014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Problema Inicial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020604" y="4509611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geometría generada solo tenía caras visibles desde un lado, causando áreas oscuras o invisibles.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867382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4001453"/>
            <a:ext cx="389393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Implementación Cross-Plane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368171" y="4881682"/>
            <a:ext cx="389393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generaron triángulos adicionales con normales invertidas, creando superficies visibles desde ambos lados.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867382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400145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Resultado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715738" y="4509611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Geometría completa con iluminación correcta desde cualquier ángulo de visión.</a:t>
            </a:r>
            <a:endParaRPr lang="en-US" sz="1750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1294" y="7638237"/>
            <a:ext cx="1816765" cy="59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1839"/>
            <a:ext cx="77295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Manejo de Bounds y Cámara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64307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El Desafío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424195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grandes extensiones procedurales, Unity puede recortar objetos que exceden los límites de la cámara, causando desaparición de geometría.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643074"/>
            <a:ext cx="32768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Solución Implementada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599521" y="4241959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calcularon dinámicamente los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cada objeto generado, ajustando los parámetros de la cámara para evitar el recorte prematuro de geometría en grandes estructuras.</a:t>
            </a:r>
            <a:endParaRPr lang="en-US" sz="175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635" y="7638237"/>
            <a:ext cx="1816765" cy="59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5825"/>
            <a:ext cx="840105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Resultados: Bosque Procedural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14706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384578" y="41788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Árboles Generados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468701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Vegetación procedural en un radio de 300 unidades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314706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300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26681" y="41788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Radio de Extensión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35893" y="468701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Unidades de cobertura del bosque generado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314706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268783" y="417885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Variación de Color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77995" y="468701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Colores aleatorios aplicados a cada árbol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66797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generó un bosque completo con variaciones de color aleatorias, demostrando la capacidad de los Sistemas L para crear diversidad visual en tiempo real.</a:t>
            </a:r>
            <a:endParaRPr lang="en-US" sz="1750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3635" y="7638811"/>
            <a:ext cx="1816765" cy="5913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4419" y="814113"/>
            <a:ext cx="12365950" cy="1488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0"/>
              </a:lnSpc>
              <a:buNone/>
            </a:pPr>
            <a:r>
              <a:rPr lang="en-US" sz="9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Bosque con Sistemas L</a:t>
            </a:r>
            <a:endParaRPr lang="en-US" sz="9350" dirty="0"/>
          </a:p>
        </p:txBody>
      </p:sp>
      <p:sp>
        <p:nvSpPr>
          <p:cNvPr id="3" name="Text 1"/>
          <p:cNvSpPr/>
          <p:nvPr/>
        </p:nvSpPr>
        <p:spPr>
          <a:xfrm>
            <a:off x="924419" y="247480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proyecto culmina con una demostración visual del render final, mostrando la generación procedural de vegetación utilizando gramáticas formales y manipulación directa del pipeline de renderizado en Unity.</a:t>
            </a:r>
            <a:endParaRPr lang="en-US" sz="175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4378" y="7638237"/>
            <a:ext cx="1816765" cy="59136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419" y="3892332"/>
            <a:ext cx="8297375" cy="1652159"/>
          </a:xfrm>
          <a:prstGeom prst="rect">
            <a:avLst/>
          </a:prstGeom>
        </p:spPr>
      </p:pic>
      <p:pic>
        <p:nvPicPr>
          <p:cNvPr id="7" name="Bosque con Sistemas L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996393" y="3372791"/>
            <a:ext cx="7524750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650</Words>
  <Application>Microsoft Office PowerPoint</Application>
  <PresentationFormat>Personalizado</PresentationFormat>
  <Paragraphs>77</Paragraphs>
  <Slides>10</Slides>
  <Notes>10</Notes>
  <HiddenSlides>0</HiddenSlides>
  <MMClips>3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Calibri</vt:lpstr>
      <vt:lpstr>Petrona Bold</vt:lpstr>
      <vt:lpstr>Inter</vt:lpstr>
      <vt:lpstr>Arial</vt:lpstr>
      <vt:lpstr>Roboto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lastModifiedBy>Usuario</cp:lastModifiedBy>
  <cp:revision>15</cp:revision>
  <dcterms:created xsi:type="dcterms:W3CDTF">2026-04-16T13:20:52Z</dcterms:created>
  <dcterms:modified xsi:type="dcterms:W3CDTF">2026-04-28T20:32:17Z</dcterms:modified>
</cp:coreProperties>
</file>