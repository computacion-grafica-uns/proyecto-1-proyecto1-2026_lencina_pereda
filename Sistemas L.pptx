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Default Extension="mp4" ContentType="video/mp4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4630400" cy="8229600"/>
  <p:notesSz cx="8229600" cy="14630400"/>
  <p:embeddedFontLst>
    <p:embeddedFont>
      <p:font typeface="Inter" panose="020B0604020202020204" charset="0"/>
      <p:regular r:id="rId13"/>
    </p:embeddedFont>
    <p:embeddedFont>
      <p:font typeface="Calibri" panose="020F0502020204030204" pitchFamily="34" charset="0"/>
      <p:regular r:id="rId14"/>
      <p:bold r:id="rId15"/>
      <p:italic r:id="rId16"/>
      <p:boldItalic r:id="rId17"/>
    </p:embeddedFont>
    <p:embeddedFont>
      <p:font typeface="Roboto" panose="020B0604020202020204" charset="0"/>
      <p:regular r:id="rId18"/>
    </p:embeddedFont>
  </p:embeddedFontLst>
  <p:defaultTextStyle>
    <a:defPPr>
      <a:defRPr lang="es-A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64" d="100"/>
          <a:sy n="64" d="100"/>
        </p:scale>
        <p:origin x="648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515393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4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1.xml"/><Relationship Id="rId7" Type="http://schemas.openxmlformats.org/officeDocument/2006/relationships/image" Target="../media/image11.png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4.png"/><Relationship Id="rId5" Type="http://schemas.openxmlformats.org/officeDocument/2006/relationships/image" Target="../media/image10.png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2780824"/>
            <a:ext cx="13042821" cy="1488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850"/>
              </a:lnSpc>
              <a:buNone/>
            </a:pPr>
            <a:r>
              <a:rPr lang="en-US" sz="46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Sistemas L: Modelado Procedural y Matrices en Unity</a:t>
            </a:r>
            <a:endParaRPr lang="en-US" sz="4650" dirty="0"/>
          </a:p>
        </p:txBody>
      </p:sp>
      <p:sp>
        <p:nvSpPr>
          <p:cNvPr id="3" name="Text 1"/>
          <p:cNvSpPr/>
          <p:nvPr/>
        </p:nvSpPr>
        <p:spPr>
          <a:xfrm>
            <a:off x="793789" y="4722971"/>
            <a:ext cx="130428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Una exploración técnica del modelado procedural aplicado a la generación de vegetación mediante gramáticas formales y manipulación directa del pipeline de renderizado en Unity.</a:t>
            </a:r>
            <a:endParaRPr lang="en-US" sz="1750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90" y="2127253"/>
            <a:ext cx="3389670" cy="42675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93790" y="6098142"/>
            <a:ext cx="13042821" cy="3401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1750" dirty="0">
                <a:solidFill>
                  <a:srgbClr val="38465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Pablo </a:t>
            </a:r>
            <a:r>
              <a:rPr lang="en-US" sz="1750" dirty="0" smtClean="0">
                <a:solidFill>
                  <a:srgbClr val="38465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Lencina</a:t>
            </a:r>
            <a:endParaRPr lang="en-US" sz="1750" dirty="0"/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13635" y="7617737"/>
            <a:ext cx="1816765" cy="59136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531382"/>
            <a:ext cx="6686550" cy="744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850"/>
              </a:lnSpc>
              <a:buNone/>
            </a:pPr>
            <a:r>
              <a:rPr lang="en-US" sz="46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¿Qué son los Sistemas L?</a:t>
            </a:r>
            <a:endParaRPr lang="en-US" sz="4650" dirty="0"/>
          </a:p>
        </p:txBody>
      </p:sp>
      <p:sp>
        <p:nvSpPr>
          <p:cNvPr id="3" name="Text 1"/>
          <p:cNvSpPr/>
          <p:nvPr/>
        </p:nvSpPr>
        <p:spPr>
          <a:xfrm>
            <a:off x="793790" y="2819876"/>
            <a:ext cx="8284131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Los Sistemas L son gramáticas formales desarrolladas por </a:t>
            </a:r>
            <a:r>
              <a:rPr lang="en-US" sz="1750" b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Aristid Lindenmayer</a:t>
            </a: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en 1968 para modelar el crecimiento de plantas y organismos biológicos.</a:t>
            </a:r>
            <a:endParaRPr lang="en-US" sz="1750" dirty="0"/>
          </a:p>
        </p:txBody>
      </p:sp>
      <p:sp>
        <p:nvSpPr>
          <p:cNvPr id="4" name="Text 2"/>
          <p:cNvSpPr/>
          <p:nvPr/>
        </p:nvSpPr>
        <p:spPr>
          <a:xfrm>
            <a:off x="793790" y="4112657"/>
            <a:ext cx="8284131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Esta técnica matemática utiliza reglas de producción iterativas para generar estructuras complejas a partir de simples axiomas iniciales, simulando procesos de desarrollo biológico.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793790" y="5405438"/>
            <a:ext cx="8284131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 computación, los Sistemas L se han convertido en una herramienta fundamental para el modelado procedural de vegetación y estructuras orgánicas.</a:t>
            </a:r>
            <a:endParaRPr lang="en-US" sz="1750" dirty="0"/>
          </a:p>
        </p:txBody>
      </p:sp>
      <p:sp>
        <p:nvSpPr>
          <p:cNvPr id="6" name="Text 4"/>
          <p:cNvSpPr/>
          <p:nvPr/>
        </p:nvSpPr>
        <p:spPr>
          <a:xfrm>
            <a:off x="9638943" y="4475559"/>
            <a:ext cx="4205168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endParaRPr lang="en-US" sz="1750" dirty="0"/>
          </a:p>
        </p:txBody>
      </p:sp>
      <p:pic>
        <p:nvPicPr>
          <p:cNvPr id="7" name="Imagen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13635" y="7638237"/>
            <a:ext cx="1816765" cy="591363"/>
          </a:xfrm>
          <a:prstGeom prst="rect">
            <a:avLst/>
          </a:prstGeom>
        </p:spPr>
      </p:pic>
      <p:pic>
        <p:nvPicPr>
          <p:cNvPr id="8" name="Imagen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77921" y="2880576"/>
            <a:ext cx="5411433" cy="311238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538883"/>
            <a:ext cx="8152805" cy="744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850"/>
              </a:lnSpc>
              <a:buNone/>
            </a:pPr>
            <a:r>
              <a:rPr lang="en-US" sz="46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La Gramática del Crecimiento</a:t>
            </a:r>
            <a:endParaRPr lang="en-US" sz="4650" dirty="0"/>
          </a:p>
        </p:txBody>
      </p:sp>
      <p:sp>
        <p:nvSpPr>
          <p:cNvPr id="3" name="Shape 1"/>
          <p:cNvSpPr/>
          <p:nvPr/>
        </p:nvSpPr>
        <p:spPr>
          <a:xfrm>
            <a:off x="793790" y="2736771"/>
            <a:ext cx="4196358" cy="2972991"/>
          </a:xfrm>
          <a:prstGeom prst="roundRect">
            <a:avLst>
              <a:gd name="adj" fmla="val 3204"/>
            </a:avLst>
          </a:prstGeom>
          <a:solidFill>
            <a:srgbClr val="CCEEFF"/>
          </a:solidFill>
          <a:ln w="7620">
            <a:solidFill>
              <a:srgbClr val="B2D4E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28224" y="2971205"/>
            <a:ext cx="680442" cy="680442"/>
          </a:xfrm>
          <a:prstGeom prst="roundRect">
            <a:avLst>
              <a:gd name="adj" fmla="val 13436980"/>
            </a:avLst>
          </a:prstGeom>
          <a:solidFill>
            <a:srgbClr val="007EBD"/>
          </a:solidFill>
          <a:ln/>
        </p:spPr>
      </p:sp>
      <p:sp>
        <p:nvSpPr>
          <p:cNvPr id="6" name="Text 3"/>
          <p:cNvSpPr/>
          <p:nvPr/>
        </p:nvSpPr>
        <p:spPr>
          <a:xfrm>
            <a:off x="1028224" y="3878461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Axioma Inicial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1028224" y="4386620"/>
            <a:ext cx="372749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cadena de símbolos que representa la estructura base o estado inicial del sistema.</a:t>
            </a:r>
            <a:endParaRPr lang="en-US" sz="1750" dirty="0"/>
          </a:p>
        </p:txBody>
      </p:sp>
      <p:sp>
        <p:nvSpPr>
          <p:cNvPr id="8" name="Shape 5"/>
          <p:cNvSpPr/>
          <p:nvPr/>
        </p:nvSpPr>
        <p:spPr>
          <a:xfrm>
            <a:off x="5216962" y="2736771"/>
            <a:ext cx="4196358" cy="2972991"/>
          </a:xfrm>
          <a:prstGeom prst="roundRect">
            <a:avLst>
              <a:gd name="adj" fmla="val 3204"/>
            </a:avLst>
          </a:prstGeom>
          <a:solidFill>
            <a:srgbClr val="CCEEFF"/>
          </a:solidFill>
          <a:ln w="7620">
            <a:solidFill>
              <a:srgbClr val="B2D4E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451396" y="2971205"/>
            <a:ext cx="680442" cy="680442"/>
          </a:xfrm>
          <a:prstGeom prst="roundRect">
            <a:avLst>
              <a:gd name="adj" fmla="val 13436980"/>
            </a:avLst>
          </a:prstGeom>
          <a:solidFill>
            <a:srgbClr val="007EBD"/>
          </a:solidFill>
          <a:ln/>
        </p:spPr>
      </p:sp>
      <p:sp>
        <p:nvSpPr>
          <p:cNvPr id="11" name="Text 7"/>
          <p:cNvSpPr/>
          <p:nvPr/>
        </p:nvSpPr>
        <p:spPr>
          <a:xfrm>
            <a:off x="5451396" y="3878461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Reglas de Producción</a:t>
            </a:r>
            <a:endParaRPr lang="en-US" sz="2300" dirty="0"/>
          </a:p>
        </p:txBody>
      </p:sp>
      <p:sp>
        <p:nvSpPr>
          <p:cNvPr id="12" name="Text 8"/>
          <p:cNvSpPr/>
          <p:nvPr/>
        </p:nvSpPr>
        <p:spPr>
          <a:xfrm>
            <a:off x="5451396" y="4386620"/>
            <a:ext cx="372749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Transformaciones que definen cómo cada símbolo se reemplaza en cada iteración del proceso.</a:t>
            </a:r>
            <a:endParaRPr lang="en-US" sz="1750" dirty="0"/>
          </a:p>
        </p:txBody>
      </p:sp>
      <p:sp>
        <p:nvSpPr>
          <p:cNvPr id="13" name="Shape 9"/>
          <p:cNvSpPr/>
          <p:nvPr/>
        </p:nvSpPr>
        <p:spPr>
          <a:xfrm>
            <a:off x="9640133" y="2736771"/>
            <a:ext cx="4196358" cy="2972991"/>
          </a:xfrm>
          <a:prstGeom prst="roundRect">
            <a:avLst>
              <a:gd name="adj" fmla="val 3204"/>
            </a:avLst>
          </a:prstGeom>
          <a:solidFill>
            <a:srgbClr val="CCEEFF"/>
          </a:solidFill>
          <a:ln w="7620">
            <a:solidFill>
              <a:srgbClr val="B2D4E5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9874568" y="2971205"/>
            <a:ext cx="680442" cy="680442"/>
          </a:xfrm>
          <a:prstGeom prst="roundRect">
            <a:avLst>
              <a:gd name="adj" fmla="val 13436980"/>
            </a:avLst>
          </a:prstGeom>
          <a:solidFill>
            <a:srgbClr val="007EBD"/>
          </a:solidFill>
          <a:ln/>
        </p:spPr>
      </p:sp>
      <p:sp>
        <p:nvSpPr>
          <p:cNvPr id="16" name="Text 11"/>
          <p:cNvSpPr/>
          <p:nvPr/>
        </p:nvSpPr>
        <p:spPr>
          <a:xfrm>
            <a:off x="9874568" y="3878461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Iteraciones</a:t>
            </a:r>
            <a:endParaRPr lang="en-US" sz="2300" dirty="0"/>
          </a:p>
        </p:txBody>
      </p:sp>
      <p:sp>
        <p:nvSpPr>
          <p:cNvPr id="17" name="Text 12"/>
          <p:cNvSpPr/>
          <p:nvPr/>
        </p:nvSpPr>
        <p:spPr>
          <a:xfrm>
            <a:off x="9874568" y="4386620"/>
            <a:ext cx="372749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número de veces que se aplican las reglas, determinando la complejidad de la estructura final.</a:t>
            </a:r>
            <a:endParaRPr lang="en-US" sz="1750" dirty="0"/>
          </a:p>
        </p:txBody>
      </p:sp>
      <p:sp>
        <p:nvSpPr>
          <p:cNvPr id="18" name="Text 13"/>
          <p:cNvSpPr/>
          <p:nvPr/>
        </p:nvSpPr>
        <p:spPr>
          <a:xfrm>
            <a:off x="793790" y="5964912"/>
            <a:ext cx="130428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proceso iterativo permite generar estructuras fractales y ramificaciones que simulan el crecimiento natural de plantas y árboles.</a:t>
            </a:r>
            <a:endParaRPr lang="en-US" sz="1750" dirty="0"/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93675" y="7638237"/>
            <a:ext cx="1816765" cy="5913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810345"/>
            <a:ext cx="7739658" cy="744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850"/>
              </a:lnSpc>
              <a:buNone/>
            </a:pPr>
            <a:r>
              <a:rPr lang="en-US" sz="46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De Símbolos a Geometría 3D</a:t>
            </a:r>
            <a:endParaRPr lang="en-US" sz="4650" dirty="0"/>
          </a:p>
        </p:txBody>
      </p:sp>
      <p:sp>
        <p:nvSpPr>
          <p:cNvPr id="3" name="Text 1"/>
          <p:cNvSpPr/>
          <p:nvPr/>
        </p:nvSpPr>
        <p:spPr>
          <a:xfrm>
            <a:off x="793790" y="3121581"/>
            <a:ext cx="3233976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El Concepto de 'Tortuga'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793790" y="3720465"/>
            <a:ext cx="624470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interpretación gráfica utiliza un cursor móvil (tortuga) que ejecuta comandos basados en símbolos: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793790" y="4650343"/>
            <a:ext cx="6244709" cy="16894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'F' = Avanzar y dibujar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'[' = Guardar posición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']' = Restaurar posición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'+'/'-' = Rotar</a:t>
            </a:r>
            <a:endParaRPr lang="en-US" sz="1750" dirty="0"/>
          </a:p>
        </p:txBody>
      </p:sp>
      <p:sp>
        <p:nvSpPr>
          <p:cNvPr id="6" name="Text 4"/>
          <p:cNvSpPr/>
          <p:nvPr/>
        </p:nvSpPr>
        <p:spPr>
          <a:xfrm>
            <a:off x="7599521" y="3121581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Implementación 3D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7599521" y="3720465"/>
            <a:ext cx="6244709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 un entorno tridimensional, la tortuga mantiene estado de posición, rotación y escala, permitiendo generar geometría compleja con ramificaciones en múltiples ejes.</a:t>
            </a:r>
            <a:endParaRPr lang="en-US" sz="1750" dirty="0"/>
          </a:p>
        </p:txBody>
      </p:sp>
      <p:pic>
        <p:nvPicPr>
          <p:cNvPr id="8" name="Imagen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13635" y="7638237"/>
            <a:ext cx="1816765" cy="59136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656987"/>
            <a:ext cx="12236053" cy="744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850"/>
              </a:lnSpc>
              <a:buNone/>
            </a:pPr>
            <a:r>
              <a:rPr lang="en-US" sz="46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Implementación Técnica: Matrices Manuales</a:t>
            </a:r>
            <a:endParaRPr lang="en-US" sz="4650" dirty="0"/>
          </a:p>
        </p:txBody>
      </p:sp>
      <p:sp>
        <p:nvSpPr>
          <p:cNvPr id="3" name="Text 1"/>
          <p:cNvSpPr/>
          <p:nvPr/>
        </p:nvSpPr>
        <p:spPr>
          <a:xfrm>
            <a:off x="793790" y="1854875"/>
            <a:ext cx="130428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Para comprender profundamente el pipeline de renderizado, se implementaron manualmente las tres matrices fundamentales del sistema de coordenadas:</a:t>
            </a:r>
            <a:endParaRPr lang="en-US" sz="1750" dirty="0"/>
          </a:p>
        </p:txBody>
      </p:sp>
      <p:sp>
        <p:nvSpPr>
          <p:cNvPr id="4" name="Shape 2"/>
          <p:cNvSpPr/>
          <p:nvPr/>
        </p:nvSpPr>
        <p:spPr>
          <a:xfrm>
            <a:off x="793790" y="2835831"/>
            <a:ext cx="4196358" cy="3154799"/>
          </a:xfrm>
          <a:prstGeom prst="roundRect">
            <a:avLst>
              <a:gd name="adj" fmla="val 3020"/>
            </a:avLst>
          </a:prstGeom>
          <a:solidFill>
            <a:srgbClr val="FFFFFF">
              <a:alpha val="95000"/>
            </a:srgbClr>
          </a:solidFill>
          <a:ln w="30480">
            <a:solidFill>
              <a:srgbClr val="B2D4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4270" y="2866311"/>
            <a:ext cx="4135398" cy="680442"/>
          </a:xfrm>
          <a:prstGeom prst="roundRect">
            <a:avLst>
              <a:gd name="adj" fmla="val 8626"/>
            </a:avLst>
          </a:prstGeom>
          <a:solidFill>
            <a:srgbClr val="CCEEFF"/>
          </a:solidFill>
          <a:ln/>
        </p:spPr>
      </p:sp>
      <p:sp>
        <p:nvSpPr>
          <p:cNvPr id="6" name="Text 4"/>
          <p:cNvSpPr/>
          <p:nvPr/>
        </p:nvSpPr>
        <p:spPr>
          <a:xfrm>
            <a:off x="2721888" y="2990017"/>
            <a:ext cx="340162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6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1</a:t>
            </a:r>
            <a:endParaRPr lang="en-US" sz="2650" dirty="0"/>
          </a:p>
        </p:txBody>
      </p:sp>
      <p:sp>
        <p:nvSpPr>
          <p:cNvPr id="7" name="Text 5"/>
          <p:cNvSpPr/>
          <p:nvPr/>
        </p:nvSpPr>
        <p:spPr>
          <a:xfrm>
            <a:off x="1051084" y="3773567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Model Matrix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1051084" y="4281726"/>
            <a:ext cx="368177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Transforma coordenadas locales del objeto al espacio mundial, aplicando traslación, rotación y escala.</a:t>
            </a:r>
            <a:endParaRPr lang="en-US" sz="1750" dirty="0"/>
          </a:p>
        </p:txBody>
      </p:sp>
      <p:sp>
        <p:nvSpPr>
          <p:cNvPr id="9" name="Shape 7"/>
          <p:cNvSpPr/>
          <p:nvPr/>
        </p:nvSpPr>
        <p:spPr>
          <a:xfrm>
            <a:off x="5216962" y="2835831"/>
            <a:ext cx="4196358" cy="3154799"/>
          </a:xfrm>
          <a:prstGeom prst="roundRect">
            <a:avLst>
              <a:gd name="adj" fmla="val 3020"/>
            </a:avLst>
          </a:prstGeom>
          <a:solidFill>
            <a:srgbClr val="FFFFFF">
              <a:alpha val="95000"/>
            </a:srgbClr>
          </a:solidFill>
          <a:ln w="30480">
            <a:solidFill>
              <a:srgbClr val="B2D4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247442" y="2866311"/>
            <a:ext cx="4135398" cy="680442"/>
          </a:xfrm>
          <a:prstGeom prst="roundRect">
            <a:avLst>
              <a:gd name="adj" fmla="val 8626"/>
            </a:avLst>
          </a:prstGeom>
          <a:solidFill>
            <a:srgbClr val="CCEEFF"/>
          </a:solidFill>
          <a:ln/>
        </p:spPr>
      </p:sp>
      <p:sp>
        <p:nvSpPr>
          <p:cNvPr id="11" name="Text 9"/>
          <p:cNvSpPr/>
          <p:nvPr/>
        </p:nvSpPr>
        <p:spPr>
          <a:xfrm>
            <a:off x="7145060" y="2990017"/>
            <a:ext cx="340162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6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2</a:t>
            </a:r>
            <a:endParaRPr lang="en-US" sz="2650" dirty="0"/>
          </a:p>
        </p:txBody>
      </p:sp>
      <p:sp>
        <p:nvSpPr>
          <p:cNvPr id="12" name="Text 10"/>
          <p:cNvSpPr/>
          <p:nvPr/>
        </p:nvSpPr>
        <p:spPr>
          <a:xfrm>
            <a:off x="5474256" y="3773567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View Matrix</a:t>
            </a:r>
            <a:endParaRPr lang="en-US" sz="2300" dirty="0"/>
          </a:p>
        </p:txBody>
      </p:sp>
      <p:sp>
        <p:nvSpPr>
          <p:cNvPr id="13" name="Text 11"/>
          <p:cNvSpPr/>
          <p:nvPr/>
        </p:nvSpPr>
        <p:spPr>
          <a:xfrm>
            <a:off x="5474256" y="4281726"/>
            <a:ext cx="368177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Convierte del espacio mundial al espacio de vista, posicionando la escena desde la perspectiva de la cámara.</a:t>
            </a:r>
            <a:endParaRPr lang="en-US" sz="1750" dirty="0"/>
          </a:p>
        </p:txBody>
      </p:sp>
      <p:sp>
        <p:nvSpPr>
          <p:cNvPr id="14" name="Shape 12"/>
          <p:cNvSpPr/>
          <p:nvPr/>
        </p:nvSpPr>
        <p:spPr>
          <a:xfrm>
            <a:off x="9640133" y="2835831"/>
            <a:ext cx="4196358" cy="3154799"/>
          </a:xfrm>
          <a:prstGeom prst="roundRect">
            <a:avLst>
              <a:gd name="adj" fmla="val 3020"/>
            </a:avLst>
          </a:prstGeom>
          <a:solidFill>
            <a:srgbClr val="FFFFFF">
              <a:alpha val="95000"/>
            </a:srgbClr>
          </a:solidFill>
          <a:ln w="30480">
            <a:solidFill>
              <a:srgbClr val="B2D4E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70613" y="2866311"/>
            <a:ext cx="4135398" cy="680442"/>
          </a:xfrm>
          <a:prstGeom prst="roundRect">
            <a:avLst>
              <a:gd name="adj" fmla="val 8626"/>
            </a:avLst>
          </a:prstGeom>
          <a:solidFill>
            <a:srgbClr val="CCEEFF"/>
          </a:solidFill>
          <a:ln/>
        </p:spPr>
      </p:sp>
      <p:sp>
        <p:nvSpPr>
          <p:cNvPr id="16" name="Text 14"/>
          <p:cNvSpPr/>
          <p:nvPr/>
        </p:nvSpPr>
        <p:spPr>
          <a:xfrm>
            <a:off x="11568232" y="2990017"/>
            <a:ext cx="340162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6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3</a:t>
            </a:r>
            <a:endParaRPr lang="en-US" sz="2650" dirty="0"/>
          </a:p>
        </p:txBody>
      </p:sp>
      <p:sp>
        <p:nvSpPr>
          <p:cNvPr id="17" name="Text 15"/>
          <p:cNvSpPr/>
          <p:nvPr/>
        </p:nvSpPr>
        <p:spPr>
          <a:xfrm>
            <a:off x="9897427" y="3773567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Projection Matrix</a:t>
            </a:r>
            <a:endParaRPr lang="en-US" sz="2300" dirty="0"/>
          </a:p>
        </p:txBody>
      </p:sp>
      <p:sp>
        <p:nvSpPr>
          <p:cNvPr id="18" name="Text 16"/>
          <p:cNvSpPr/>
          <p:nvPr/>
        </p:nvSpPr>
        <p:spPr>
          <a:xfrm>
            <a:off x="9897427" y="4281726"/>
            <a:ext cx="368177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Mapea el espacio de vista al espacio de clip, aplicando perspectiva o proyección ortográfica.</a:t>
            </a:r>
            <a:endParaRPr lang="en-US" sz="1750" dirty="0"/>
          </a:p>
        </p:txBody>
      </p:sp>
      <p:sp>
        <p:nvSpPr>
          <p:cNvPr id="19" name="Shape 17"/>
          <p:cNvSpPr/>
          <p:nvPr/>
        </p:nvSpPr>
        <p:spPr>
          <a:xfrm>
            <a:off x="793790" y="6245781"/>
            <a:ext cx="13042821" cy="1326713"/>
          </a:xfrm>
          <a:prstGeom prst="roundRect">
            <a:avLst>
              <a:gd name="adj" fmla="val 7181"/>
            </a:avLst>
          </a:prstGeom>
          <a:solidFill>
            <a:srgbClr val="B6D6FC"/>
          </a:solidFill>
          <a:ln/>
        </p:spPr>
      </p:sp>
      <p:pic>
        <p:nvPicPr>
          <p:cNvPr id="2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604" y="6589871"/>
            <a:ext cx="283488" cy="226814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1530906" y="6529268"/>
            <a:ext cx="1207889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 evitó usar las funciones automáticas de Unity para comprender el pipeline completo de transformación de vértices.</a:t>
            </a:r>
            <a:endParaRPr lang="en-US" sz="1750" dirty="0"/>
          </a:p>
        </p:txBody>
      </p:sp>
      <p:pic>
        <p:nvPicPr>
          <p:cNvPr id="22" name="Imagen 2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13635" y="7638237"/>
            <a:ext cx="1816765" cy="59136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2048351"/>
            <a:ext cx="8557617" cy="744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850"/>
              </a:lnSpc>
              <a:buNone/>
            </a:pPr>
            <a:r>
              <a:rPr lang="en-US" sz="46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Optimización: Backface Culling</a:t>
            </a:r>
            <a:endParaRPr lang="en-US" sz="4650" dirty="0"/>
          </a:p>
        </p:txBody>
      </p:sp>
      <p:sp>
        <p:nvSpPr>
          <p:cNvPr id="3" name="Text 1"/>
          <p:cNvSpPr/>
          <p:nvPr/>
        </p:nvSpPr>
        <p:spPr>
          <a:xfrm>
            <a:off x="793790" y="3359587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El Desafío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793790" y="3958471"/>
            <a:ext cx="6244709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</a:t>
            </a:r>
            <a:r>
              <a:rPr lang="en-US" sz="1750" b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Backface Culling</a:t>
            </a: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es una optimización que descarta caras no visibles de los objetos para mejorar el rendimiento del renderizado.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793790" y="5251252"/>
            <a:ext cx="624470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 geometría procedural, esto requiere calcular correctamente las normales de superficie en tiempo real.</a:t>
            </a:r>
            <a:endParaRPr lang="en-US" sz="1750" dirty="0"/>
          </a:p>
        </p:txBody>
      </p:sp>
      <p:sp>
        <p:nvSpPr>
          <p:cNvPr id="6" name="Text 4"/>
          <p:cNvSpPr/>
          <p:nvPr/>
        </p:nvSpPr>
        <p:spPr>
          <a:xfrm>
            <a:off x="7599521" y="3359587"/>
            <a:ext cx="3276838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Solución Implementada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7599521" y="3958471"/>
            <a:ext cx="6244709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 calcularon las normales de cada triángulo generado, asegurando que el culling funcione correctamente y manteniendo la eficiencia del renderizado.</a:t>
            </a:r>
            <a:endParaRPr lang="en-US" sz="1750" dirty="0"/>
          </a:p>
        </p:txBody>
      </p:sp>
      <p:pic>
        <p:nvPicPr>
          <p:cNvPr id="8" name="Imagen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13635" y="7638237"/>
            <a:ext cx="1816765" cy="59136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669494"/>
            <a:ext cx="10317956" cy="744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850"/>
              </a:lnSpc>
              <a:buNone/>
            </a:pPr>
            <a:r>
              <a:rPr lang="en-US" sz="46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Geometría de Doble Cara: Cross-Plane</a:t>
            </a:r>
            <a:endParaRPr lang="en-US" sz="46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90" y="2867382"/>
            <a:ext cx="4347567" cy="9072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20604" y="4001453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Problema Inicial</a:t>
            </a:r>
            <a:endParaRPr lang="en-US" sz="2300" dirty="0"/>
          </a:p>
        </p:txBody>
      </p:sp>
      <p:sp>
        <p:nvSpPr>
          <p:cNvPr id="5" name="Text 2"/>
          <p:cNvSpPr/>
          <p:nvPr/>
        </p:nvSpPr>
        <p:spPr>
          <a:xfrm>
            <a:off x="1020604" y="4509611"/>
            <a:ext cx="3893939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geometría generada solo tenía caras visibles desde un lado, causando áreas oscuras o invisibles.</a:t>
            </a:r>
            <a:endParaRPr lang="en-US" sz="175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1357" y="2867382"/>
            <a:ext cx="4347567" cy="907256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368171" y="4001453"/>
            <a:ext cx="3893939" cy="744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Implementación Cross-Plane</a:t>
            </a:r>
            <a:endParaRPr lang="en-US" sz="2300" dirty="0"/>
          </a:p>
        </p:txBody>
      </p:sp>
      <p:sp>
        <p:nvSpPr>
          <p:cNvPr id="8" name="Text 4"/>
          <p:cNvSpPr/>
          <p:nvPr/>
        </p:nvSpPr>
        <p:spPr>
          <a:xfrm>
            <a:off x="5368171" y="4881682"/>
            <a:ext cx="3893939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 generaron triángulos adicionales con normales invertidas, creando superficies visibles desde ambos lados.</a:t>
            </a:r>
            <a:endParaRPr lang="en-US" sz="17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88924" y="2867382"/>
            <a:ext cx="4347567" cy="907256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9715738" y="4001453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Resultado</a:t>
            </a:r>
            <a:endParaRPr lang="en-US" sz="2300" dirty="0"/>
          </a:p>
        </p:txBody>
      </p:sp>
      <p:sp>
        <p:nvSpPr>
          <p:cNvPr id="11" name="Text 6"/>
          <p:cNvSpPr/>
          <p:nvPr/>
        </p:nvSpPr>
        <p:spPr>
          <a:xfrm>
            <a:off x="9715738" y="4509611"/>
            <a:ext cx="3893939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Geometría completa con iluminación correcta desde cualquier ángulo de visión.</a:t>
            </a:r>
            <a:endParaRPr lang="en-US" sz="1750" dirty="0"/>
          </a:p>
        </p:txBody>
      </p:sp>
      <p:pic>
        <p:nvPicPr>
          <p:cNvPr id="12" name="Imagen 1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701294" y="7638237"/>
            <a:ext cx="1816765" cy="59136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2331839"/>
            <a:ext cx="7729538" cy="744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850"/>
              </a:lnSpc>
              <a:buNone/>
            </a:pPr>
            <a:r>
              <a:rPr lang="en-US" sz="46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Manejo de Bounds y Cámara</a:t>
            </a:r>
            <a:endParaRPr lang="en-US" sz="4650" dirty="0"/>
          </a:p>
        </p:txBody>
      </p:sp>
      <p:sp>
        <p:nvSpPr>
          <p:cNvPr id="3" name="Text 1"/>
          <p:cNvSpPr/>
          <p:nvPr/>
        </p:nvSpPr>
        <p:spPr>
          <a:xfrm>
            <a:off x="793790" y="3643074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El Desafío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793790" y="4241959"/>
            <a:ext cx="6244709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 grandes extensiones procedurales, Unity puede recortar objetos que exceden los límites de la cámara, causando desaparición de geometría.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7599521" y="3643074"/>
            <a:ext cx="3276838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Solución Implementada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7599521" y="4241959"/>
            <a:ext cx="6244709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 calcularon dinámicamente los </a:t>
            </a:r>
            <a:r>
              <a:rPr lang="en-US" sz="1750" b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Bounds</a:t>
            </a: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de cada objeto generado, ajustando los parámetros de la cámara para evitar el recorte prematuro de geometría en grandes estructuras.</a:t>
            </a:r>
            <a:endParaRPr lang="en-US" sz="1750" dirty="0"/>
          </a:p>
        </p:txBody>
      </p:sp>
      <p:pic>
        <p:nvPicPr>
          <p:cNvPr id="7" name="Imagen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13635" y="7638237"/>
            <a:ext cx="1816765" cy="59136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835825"/>
            <a:ext cx="8401050" cy="744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850"/>
              </a:lnSpc>
              <a:buNone/>
            </a:pPr>
            <a:r>
              <a:rPr lang="en-US" sz="46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Resultados: Bosque Procedural</a:t>
            </a:r>
            <a:endParaRPr lang="en-US" sz="4650" dirty="0"/>
          </a:p>
        </p:txBody>
      </p:sp>
      <p:sp>
        <p:nvSpPr>
          <p:cNvPr id="3" name="Text 1"/>
          <p:cNvSpPr/>
          <p:nvPr/>
        </p:nvSpPr>
        <p:spPr>
          <a:xfrm>
            <a:off x="793790" y="3147060"/>
            <a:ext cx="4158615" cy="7484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850"/>
              </a:lnSpc>
              <a:buNone/>
            </a:pPr>
            <a:r>
              <a:rPr lang="en-US" sz="58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200</a:t>
            </a:r>
            <a:endParaRPr lang="en-US" sz="5850" dirty="0"/>
          </a:p>
        </p:txBody>
      </p:sp>
      <p:sp>
        <p:nvSpPr>
          <p:cNvPr id="4" name="Text 2"/>
          <p:cNvSpPr/>
          <p:nvPr/>
        </p:nvSpPr>
        <p:spPr>
          <a:xfrm>
            <a:off x="1384578" y="4178856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Árboles Generados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793790" y="4687014"/>
            <a:ext cx="4158615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Vegetación procedural en un radio de 300 unidades</a:t>
            </a:r>
            <a:endParaRPr lang="en-US" sz="1750" dirty="0"/>
          </a:p>
        </p:txBody>
      </p:sp>
      <p:sp>
        <p:nvSpPr>
          <p:cNvPr id="6" name="Text 4"/>
          <p:cNvSpPr/>
          <p:nvPr/>
        </p:nvSpPr>
        <p:spPr>
          <a:xfrm>
            <a:off x="5235893" y="3147060"/>
            <a:ext cx="4158615" cy="7484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850"/>
              </a:lnSpc>
              <a:buNone/>
            </a:pPr>
            <a:r>
              <a:rPr lang="en-US" sz="58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300</a:t>
            </a:r>
            <a:endParaRPr lang="en-US" sz="5850" dirty="0"/>
          </a:p>
        </p:txBody>
      </p:sp>
      <p:sp>
        <p:nvSpPr>
          <p:cNvPr id="7" name="Text 5"/>
          <p:cNvSpPr/>
          <p:nvPr/>
        </p:nvSpPr>
        <p:spPr>
          <a:xfrm>
            <a:off x="5826681" y="4178856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Radio de Extensión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5235893" y="4687014"/>
            <a:ext cx="4158615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Unidades de cobertura del bosque generado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9677995" y="3147060"/>
            <a:ext cx="4158615" cy="7484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850"/>
              </a:lnSpc>
              <a:buNone/>
            </a:pPr>
            <a:r>
              <a:rPr lang="en-US" sz="58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100%</a:t>
            </a:r>
            <a:endParaRPr lang="en-US" sz="5850" dirty="0"/>
          </a:p>
        </p:txBody>
      </p:sp>
      <p:sp>
        <p:nvSpPr>
          <p:cNvPr id="10" name="Text 8"/>
          <p:cNvSpPr/>
          <p:nvPr/>
        </p:nvSpPr>
        <p:spPr>
          <a:xfrm>
            <a:off x="10268783" y="4178856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Variación de Color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9677995" y="4687014"/>
            <a:ext cx="4158615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Colores aleatorios aplicados a cada árbol</a:t>
            </a:r>
            <a:endParaRPr lang="en-US" sz="1750" dirty="0"/>
          </a:p>
        </p:txBody>
      </p:sp>
      <p:sp>
        <p:nvSpPr>
          <p:cNvPr id="12" name="Text 10"/>
          <p:cNvSpPr/>
          <p:nvPr/>
        </p:nvSpPr>
        <p:spPr>
          <a:xfrm>
            <a:off x="793790" y="5667970"/>
            <a:ext cx="130428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sistema generó un bosque completo con variaciones de color aleatorias, demostrando la capacidad de los Sistemas L para crear diversidad visual en tiempo real.</a:t>
            </a:r>
            <a:endParaRPr lang="en-US" sz="1750" dirty="0"/>
          </a:p>
        </p:txBody>
      </p:sp>
      <p:pic>
        <p:nvPicPr>
          <p:cNvPr id="13" name="Imagen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13635" y="7638811"/>
            <a:ext cx="1816765" cy="59136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4419" y="814113"/>
            <a:ext cx="12365950" cy="14885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700"/>
              </a:lnSpc>
              <a:buNone/>
            </a:pPr>
            <a:r>
              <a:rPr lang="en-US" sz="93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Bosque con Sistemas L</a:t>
            </a:r>
            <a:endParaRPr lang="en-US" sz="9350" dirty="0"/>
          </a:p>
        </p:txBody>
      </p:sp>
      <p:sp>
        <p:nvSpPr>
          <p:cNvPr id="3" name="Text 1"/>
          <p:cNvSpPr/>
          <p:nvPr/>
        </p:nvSpPr>
        <p:spPr>
          <a:xfrm>
            <a:off x="924419" y="2474809"/>
            <a:ext cx="130428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proyecto culmina con una demostración visual del render final, mostrando la generación procedural de vegetación utilizando gramáticas formales y manipulación directa del pipeline de renderizado en Unity.</a:t>
            </a:r>
            <a:endParaRPr lang="en-US" sz="1750" dirty="0"/>
          </a:p>
        </p:txBody>
      </p:sp>
      <p:pic>
        <p:nvPicPr>
          <p:cNvPr id="5" name="Bosque con Sistemas L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801426" y="3372791"/>
            <a:ext cx="7429500" cy="4343400"/>
          </a:xfrm>
          <a:prstGeom prst="rect">
            <a:avLst/>
          </a:prstGeom>
        </p:spPr>
      </p:pic>
      <p:pic>
        <p:nvPicPr>
          <p:cNvPr id="4" name="Imagen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704378" y="7638237"/>
            <a:ext cx="1816765" cy="591363"/>
          </a:xfrm>
          <a:prstGeom prst="rect">
            <a:avLst/>
          </a:prstGeom>
        </p:spPr>
      </p:pic>
      <p:pic>
        <p:nvPicPr>
          <p:cNvPr id="6" name="Imagen 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4419" y="3892332"/>
            <a:ext cx="8297375" cy="165215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4304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remove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72</TotalTime>
  <Words>650</Words>
  <Application>Microsoft Office PowerPoint</Application>
  <PresentationFormat>Personalizado</PresentationFormat>
  <Paragraphs>77</Paragraphs>
  <Slides>10</Slides>
  <Notes>10</Notes>
  <HiddenSlides>0</HiddenSlides>
  <MMClips>1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6" baseType="lpstr">
      <vt:lpstr>Petrona Bold</vt:lpstr>
      <vt:lpstr>Arial</vt:lpstr>
      <vt:lpstr>Inter</vt:lpstr>
      <vt:lpstr>Calibri</vt:lpstr>
      <vt:lpstr>Roboto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subject/>
  <dc:creator/>
  <cp:lastModifiedBy>SIAG</cp:lastModifiedBy>
  <cp:revision>9</cp:revision>
  <dcterms:created xsi:type="dcterms:W3CDTF">2026-04-16T13:20:52Z</dcterms:created>
  <dcterms:modified xsi:type="dcterms:W3CDTF">2026-04-22T12:54:17Z</dcterms:modified>
</cp:coreProperties>
</file>